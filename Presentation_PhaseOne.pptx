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4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343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Data Overview: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</a:t>
            </a:r>
            <a:r>
              <a:rPr lang="en-US" dirty="0" smtClean="0">
                <a:solidFill>
                  <a:schemeClr val="tx1"/>
                </a:solidFill>
              </a:rPr>
              <a:t>erformance.tsv | </a:t>
            </a:r>
            <a:r>
              <a:rPr lang="en-US" b="1" dirty="0" smtClean="0">
                <a:solidFill>
                  <a:schemeClr val="tx1"/>
                </a:solidFill>
              </a:rPr>
              <a:t>Match Stats.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 dirty="0" smtClean="0">
                <a:solidFill>
                  <a:schemeClr val="tx1"/>
                </a:solidFill>
              </a:rPr>
              <a:t>dentity_card_0.tsv + identity_card_1.csv | </a:t>
            </a:r>
            <a:r>
              <a:rPr lang="en-US" b="1" dirty="0" smtClean="0">
                <a:solidFill>
                  <a:schemeClr val="tx1"/>
                </a:solidFill>
              </a:rPr>
              <a:t>Player Identity.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medical_information.xlsx | </a:t>
            </a:r>
            <a:r>
              <a:rPr lang="en-US" b="1" dirty="0" smtClean="0">
                <a:solidFill>
                  <a:schemeClr val="tx1"/>
                </a:solidFill>
              </a:rPr>
              <a:t>Physical &amp; Health Data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moms_notes.json | </a:t>
            </a:r>
            <a:r>
              <a:rPr lang="en-US" b="1" dirty="0" smtClean="0">
                <a:solidFill>
                  <a:schemeClr val="tx1"/>
                </a:solidFill>
              </a:rPr>
              <a:t>Additional Notes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hockey_scouting_notes.csv | </a:t>
            </a:r>
            <a:r>
              <a:rPr lang="en-US" b="1" dirty="0" smtClean="0">
                <a:solidFill>
                  <a:schemeClr val="tx1"/>
                </a:solidFill>
              </a:rPr>
              <a:t>Scouting Attributes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Contracts_competition.pkl | </a:t>
            </a:r>
            <a:r>
              <a:rPr lang="en-US" b="1" dirty="0" smtClean="0">
                <a:solidFill>
                  <a:schemeClr val="tx1"/>
                </a:solidFill>
              </a:rPr>
              <a:t>Contract/Salary data.</a:t>
            </a:r>
          </a:p>
          <a:p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2009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Approach &amp; </a:t>
            </a:r>
            <a:r>
              <a:rPr sz="4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Workflow</a:t>
            </a:r>
            <a:endParaRPr sz="4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5068" y="5348882"/>
            <a:ext cx="12314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 smtClean="0">
                <a:solidFill>
                  <a:srgbClr val="FFFFFF"/>
                </a:solidFill>
              </a:rPr>
              <a:t>Loaded Files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73680" y="4369890"/>
            <a:ext cx="1828800" cy="914400"/>
          </a:xfrm>
          <a:prstGeom prst="roundRect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72459" y="4639953"/>
            <a:ext cx="16117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 smtClean="0">
                <a:solidFill>
                  <a:srgbClr val="FFFFFF"/>
                </a:solidFill>
              </a:rPr>
              <a:t>Cleaned Formats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105400" y="4365633"/>
            <a:ext cx="1828800" cy="914400"/>
          </a:xfrm>
          <a:prstGeom prst="roundRect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57647" y="4639953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FFFFFF"/>
                </a:solidFill>
              </a:rPr>
              <a:t>Merge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7120" y="4387047"/>
            <a:ext cx="1828800" cy="914400"/>
          </a:xfrm>
          <a:prstGeom prst="roundRect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58880" y="4551859"/>
            <a:ext cx="1445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FFFFFF"/>
                </a:solidFill>
              </a:rPr>
              <a:t>Exploratory Data Analysis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850994" y="4387046"/>
            <a:ext cx="1828800" cy="914400"/>
          </a:xfrm>
          <a:prstGeom prst="roundRect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19037" y="467207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FFFFFF"/>
                </a:solidFill>
              </a:rPr>
              <a:t>Insights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678035" y="4639953"/>
            <a:ext cx="351012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7044529" y="4639953"/>
            <a:ext cx="351012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9382951" y="4601930"/>
            <a:ext cx="351012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04002" y="4382790"/>
            <a:ext cx="1828800" cy="914400"/>
          </a:xfrm>
          <a:prstGeom prst="roundRect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7122" y="4659928"/>
            <a:ext cx="12314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 smtClean="0">
                <a:solidFill>
                  <a:srgbClr val="FFFFFF"/>
                </a:solidFill>
              </a:rPr>
              <a:t>Loaded Files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2238990" y="4657110"/>
            <a:ext cx="351012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832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17928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800" b="1" dirty="0" smtClean="0">
              <a:solidFill>
                <a:srgbClr val="182D4E"/>
              </a:solidFill>
            </a:endParaRPr>
          </a:p>
          <a:p>
            <a:pPr algn="ctr"/>
            <a:r>
              <a:rPr sz="3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Preprocessing </a:t>
            </a:r>
            <a:r>
              <a:rPr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– </a:t>
            </a:r>
            <a:r>
              <a:rPr lang="en-US" sz="3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Loading &amp; Format Diversity</a:t>
            </a:r>
            <a:endParaRPr sz="3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1292" y="1289953"/>
            <a:ext cx="5032916" cy="32932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Loading 6 heterogeneous data source:</a:t>
            </a:r>
          </a:p>
          <a:p>
            <a:pPr>
              <a:spcAft>
                <a:spcPts val="600"/>
              </a:spcAft>
            </a:pPr>
            <a:endParaRPr lang="en-US" sz="1800" dirty="0">
              <a:solidFill>
                <a:srgbClr val="282828"/>
              </a:solidFill>
            </a:endParaRPr>
          </a:p>
          <a:p>
            <a:pPr>
              <a:spcAft>
                <a:spcPts val="600"/>
              </a:spcAft>
            </a:pPr>
            <a:endParaRPr lang="en-US" sz="1800" dirty="0" smtClean="0">
              <a:solidFill>
                <a:srgbClr val="282828"/>
              </a:solidFill>
            </a:endParaRPr>
          </a:p>
          <a:p>
            <a:pPr>
              <a:spcAft>
                <a:spcPts val="600"/>
              </a:spcAft>
            </a:pPr>
            <a:endParaRPr lang="en-US" dirty="0">
              <a:solidFill>
                <a:srgbClr val="282828"/>
              </a:solidFill>
            </a:endParaRPr>
          </a:p>
          <a:p>
            <a:pPr>
              <a:spcAft>
                <a:spcPts val="600"/>
              </a:spcAft>
            </a:pPr>
            <a:r>
              <a:rPr sz="1800" dirty="0" smtClean="0">
                <a:solidFill>
                  <a:srgbClr val="282828"/>
                </a:solidFill>
              </a:rPr>
              <a:t> </a:t>
            </a:r>
            <a:endParaRPr lang="en-US" sz="1800" dirty="0" smtClean="0">
              <a:solidFill>
                <a:srgbClr val="282828"/>
              </a:solidFill>
            </a:endParaRPr>
          </a:p>
          <a:p>
            <a:pPr>
              <a:spcAft>
                <a:spcPts val="600"/>
              </a:spcAft>
            </a:pPr>
            <a:endParaRPr lang="en-US" dirty="0">
              <a:solidFill>
                <a:srgbClr val="282828"/>
              </a:solidFill>
            </a:endParaRPr>
          </a:p>
          <a:p>
            <a:pPr>
              <a:spcAft>
                <a:spcPts val="600"/>
              </a:spcAft>
            </a:pPr>
            <a:endParaRPr lang="en-US" sz="1800" dirty="0" smtClean="0">
              <a:solidFill>
                <a:srgbClr val="282828"/>
              </a:solidFill>
            </a:endParaRPr>
          </a:p>
          <a:p>
            <a:pPr>
              <a:spcAft>
                <a:spcPts val="600"/>
              </a:spcAft>
            </a:pPr>
            <a:endParaRPr lang="en-US" dirty="0">
              <a:solidFill>
                <a:srgbClr val="282828"/>
              </a:solidFill>
            </a:endParaRPr>
          </a:p>
          <a:p>
            <a:pPr>
              <a:spcAft>
                <a:spcPts val="600"/>
              </a:spcAft>
            </a:pPr>
            <a:endParaRPr lang="en-US" sz="1800" dirty="0" smtClean="0">
              <a:solidFill>
                <a:srgbClr val="282828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704946"/>
              </p:ext>
            </p:extLst>
          </p:nvPr>
        </p:nvGraphicFramePr>
        <p:xfrm>
          <a:off x="625987" y="2135510"/>
          <a:ext cx="10563123" cy="3783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1041">
                  <a:extLst>
                    <a:ext uri="{9D8B030D-6E8A-4147-A177-3AD203B41FA5}">
                      <a16:colId xmlns:a16="http://schemas.microsoft.com/office/drawing/2014/main" val="155087793"/>
                    </a:ext>
                  </a:extLst>
                </a:gridCol>
                <a:gridCol w="2204611">
                  <a:extLst>
                    <a:ext uri="{9D8B030D-6E8A-4147-A177-3AD203B41FA5}">
                      <a16:colId xmlns:a16="http://schemas.microsoft.com/office/drawing/2014/main" val="916978942"/>
                    </a:ext>
                  </a:extLst>
                </a:gridCol>
                <a:gridCol w="4837471">
                  <a:extLst>
                    <a:ext uri="{9D8B030D-6E8A-4147-A177-3AD203B41FA5}">
                      <a16:colId xmlns:a16="http://schemas.microsoft.com/office/drawing/2014/main" val="2080526366"/>
                    </a:ext>
                  </a:extLst>
                </a:gridCol>
              </a:tblGrid>
              <a:tr h="540501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File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Format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Challenge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005347"/>
                  </a:ext>
                </a:extLst>
              </a:tr>
              <a:tr h="540501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performance.tsv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TSV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Tab-separated, needs explicit </a:t>
                      </a:r>
                      <a:r>
                        <a:rPr lang="en-US" dirty="0" err="1" smtClean="0"/>
                        <a:t>sep</a:t>
                      </a:r>
                      <a:r>
                        <a:rPr lang="en-US" dirty="0" smtClean="0"/>
                        <a:t>="\t"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009881"/>
                  </a:ext>
                </a:extLst>
              </a:tr>
              <a:tr h="540501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identity_card_0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TSV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Column names in </a:t>
                      </a:r>
                      <a:r>
                        <a:rPr lang="en-US" b="1" dirty="0" smtClean="0"/>
                        <a:t>Latin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246523"/>
                  </a:ext>
                </a:extLst>
              </a:tr>
              <a:tr h="540501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identity_card_1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CSV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Standard, used for </a:t>
                      </a:r>
                      <a:r>
                        <a:rPr lang="en-US" dirty="0" err="1" smtClean="0"/>
                        <a:t>concat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268716"/>
                  </a:ext>
                </a:extLst>
              </a:tr>
              <a:tr h="540501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medical_information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Excel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No header row</a:t>
                      </a:r>
                      <a:r>
                        <a:rPr lang="en-US" dirty="0" smtClean="0"/>
                        <a:t>, junk rows at top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32886"/>
                  </a:ext>
                </a:extLst>
              </a:tr>
              <a:tr h="540501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moms_notes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JSON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Needed null check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83992"/>
                  </a:ext>
                </a:extLst>
              </a:tr>
              <a:tr h="540501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contracts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PKL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Binary format, loaded via pickle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9414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994" y="144309"/>
            <a:ext cx="11152238" cy="147002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Preprocessing: Format Standardization</a:t>
            </a: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148" y="1614333"/>
            <a:ext cx="11798710" cy="496344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Format Standardization Before Merge</a:t>
            </a:r>
            <a:endParaRPr lang="en-US" sz="24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 smtClean="0">
                <a:solidFill>
                  <a:schemeClr val="tx1"/>
                </a:solidFill>
              </a:rPr>
              <a:t>Latin Column Names  </a:t>
            </a:r>
            <a:r>
              <a:rPr lang="en-US" sz="22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sz="2200" b="1" dirty="0" smtClean="0">
                <a:solidFill>
                  <a:schemeClr val="tx1"/>
                </a:solidFill>
              </a:rPr>
              <a:t>English (identity_card_0)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</a:t>
            </a:r>
            <a:r>
              <a:rPr lang="en-US" sz="2000" dirty="0" smtClean="0">
                <a:solidFill>
                  <a:schemeClr val="tx1"/>
                </a:solidFill>
              </a:rPr>
              <a:t>raenomen </a:t>
            </a:r>
            <a:r>
              <a:rPr lang="en-US" sz="20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first_name</a:t>
            </a:r>
            <a:r>
              <a:rPr lang="en-US" sz="2000" dirty="0" smtClean="0">
                <a:solidFill>
                  <a:schemeClr val="tx1"/>
                </a:solidFill>
              </a:rPr>
              <a:t> , cognomen </a:t>
            </a:r>
            <a:r>
              <a:rPr lang="en-US" sz="20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last_name, sexus  gender</a:t>
            </a:r>
            <a:endParaRPr lang="en-US" sz="20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 smtClean="0">
                <a:solidFill>
                  <a:schemeClr val="tx1"/>
                </a:solidFill>
              </a:rPr>
              <a:t>Roman Numeral IDS  </a:t>
            </a:r>
            <a:r>
              <a:rPr lang="en-US" sz="2200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sz="22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Integers</a:t>
            </a:r>
            <a:r>
              <a:rPr lang="en-US" sz="2200" b="1" dirty="0" smtClean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(identity_card_0)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International_id </a:t>
            </a:r>
            <a:r>
              <a:rPr lang="en-US" sz="2000" dirty="0" smtClean="0">
                <a:solidFill>
                  <a:schemeClr val="tx1"/>
                </a:solidFill>
                <a:sym typeface="Wingdings" panose="05000000000000000000" pitchFamily="2" charset="2"/>
              </a:rPr>
              <a:t>was stored as Roman numerals (e.g. XIV  14)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sym typeface="Wingdings" panose="05000000000000000000" pitchFamily="2" charset="2"/>
              </a:rPr>
              <a:t>Custom roman_to_int() function applied.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200" b="1" dirty="0" smtClean="0">
                <a:solidFill>
                  <a:schemeClr val="tx1"/>
                </a:solidFill>
              </a:rPr>
              <a:t>Medical Excel file had no header + junk rows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Columns manually assigned (medical_id, height, weight, age, shoe_size, body_fat, </a:t>
            </a:r>
            <a:r>
              <a:rPr lang="en-US" sz="2000" dirty="0" smtClean="0">
                <a:solidFill>
                  <a:schemeClr val="tx1"/>
                </a:solidFill>
              </a:rPr>
              <a:t>...)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First 3 rows skipped with iloc[3</a:t>
            </a:r>
            <a:r>
              <a:rPr lang="en-US" sz="2000" dirty="0" smtClean="0">
                <a:solidFill>
                  <a:schemeClr val="tx1"/>
                </a:solidFill>
                <a:sym typeface="Wingdings" panose="05000000000000000000" pitchFamily="2" charset="2"/>
              </a:rPr>
              <a:t>:]</a:t>
            </a:r>
          </a:p>
          <a:p>
            <a:pPr lvl="1" algn="l">
              <a:lnSpc>
                <a:spcPct val="150000"/>
              </a:lnSpc>
            </a:pPr>
            <a:r>
              <a:rPr lang="en-US" sz="22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Result</a:t>
            </a:r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: Two identity files safely concatenated into one unified identity </a:t>
            </a:r>
            <a:r>
              <a:rPr lang="en-US" sz="2000" dirty="0" smtClean="0">
                <a:solidFill>
                  <a:schemeClr val="tx1"/>
                </a:solidFill>
                <a:sym typeface="Wingdings" panose="05000000000000000000" pitchFamily="2" charset="2"/>
              </a:rPr>
              <a:t>data frame</a:t>
            </a:r>
            <a:endParaRPr lang="en-US" sz="20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 algn="l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84597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470025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Data Relationships: Joining Sources Into One Master Dataframe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477" y="1170039"/>
            <a:ext cx="11720051" cy="5240593"/>
          </a:xfrm>
        </p:spPr>
        <p:txBody>
          <a:bodyPr/>
          <a:lstStyle/>
          <a:p>
            <a:pPr algn="l"/>
            <a:endParaRPr lang="en-US" dirty="0"/>
          </a:p>
          <a:p>
            <a:pPr algn="l"/>
            <a:endParaRPr lang="en-US" dirty="0" smtClean="0"/>
          </a:p>
        </p:txBody>
      </p:sp>
      <p:sp>
        <p:nvSpPr>
          <p:cNvPr id="5" name="Rectangle 4"/>
          <p:cNvSpPr/>
          <p:nvPr/>
        </p:nvSpPr>
        <p:spPr>
          <a:xfrm>
            <a:off x="452284" y="1691148"/>
            <a:ext cx="2517058" cy="6980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performance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4104968" y="1691148"/>
            <a:ext cx="2517058" cy="6980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identity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4104968" y="2745760"/>
            <a:ext cx="2517058" cy="6980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scouting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4104968" y="3777071"/>
            <a:ext cx="2517058" cy="6980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contracts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4104968" y="4707935"/>
            <a:ext cx="2517058" cy="6980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medical</a:t>
            </a:r>
            <a:endParaRPr lang="en-US" sz="2000" dirty="0"/>
          </a:p>
        </p:txBody>
      </p:sp>
      <p:sp>
        <p:nvSpPr>
          <p:cNvPr id="10" name="Right Arrow 9"/>
          <p:cNvSpPr/>
          <p:nvPr/>
        </p:nvSpPr>
        <p:spPr>
          <a:xfrm>
            <a:off x="3175819" y="1933369"/>
            <a:ext cx="707923" cy="3490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24145" y="2421777"/>
            <a:ext cx="117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Base Table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3180736" y="2914457"/>
            <a:ext cx="707923" cy="3490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3180736" y="3927582"/>
            <a:ext cx="707923" cy="3490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3180736" y="4882457"/>
            <a:ext cx="707923" cy="34904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099531" y="1855527"/>
            <a:ext cx="2043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on: international_id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70984" y="2889254"/>
            <a:ext cx="2043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on: international_id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30447" y="3894695"/>
            <a:ext cx="2043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on: international_id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70983" y="4862171"/>
            <a:ext cx="156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on: medical_id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1139" y="5963188"/>
            <a:ext cx="11731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Why two keys? Medical data uses a separate medical_id system — it is linked through the identity table via international_id</a:t>
            </a:r>
          </a:p>
        </p:txBody>
      </p:sp>
    </p:spTree>
    <p:extLst>
      <p:ext uri="{BB962C8B-B14F-4D97-AF65-F5344CB8AC3E}">
        <p14:creationId xmlns:p14="http://schemas.microsoft.com/office/powerpoint/2010/main" val="1851329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6490"/>
            <a:ext cx="12192000" cy="1470025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Data Relationships: Correlation Analysis</a:t>
            </a:r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471" y="1032388"/>
            <a:ext cx="11749547" cy="4606412"/>
          </a:xfrm>
        </p:spPr>
        <p:txBody>
          <a:bodyPr>
            <a:normAutofit/>
          </a:bodyPr>
          <a:lstStyle/>
          <a:p>
            <a:pPr algn="l"/>
            <a:r>
              <a:rPr lang="en-US" sz="2800" dirty="0" smtClean="0">
                <a:solidFill>
                  <a:schemeClr val="tx1"/>
                </a:solidFill>
              </a:rPr>
              <a:t>Numerical </a:t>
            </a:r>
            <a:r>
              <a:rPr lang="en-US" sz="2800" dirty="0">
                <a:solidFill>
                  <a:schemeClr val="tx1"/>
                </a:solidFill>
              </a:rPr>
              <a:t>Feature </a:t>
            </a:r>
            <a:r>
              <a:rPr lang="en-US" sz="2800" dirty="0" smtClean="0">
                <a:solidFill>
                  <a:schemeClr val="tx1"/>
                </a:solidFill>
              </a:rPr>
              <a:t>Relationships:</a:t>
            </a:r>
          </a:p>
          <a:p>
            <a:pPr algn="l"/>
            <a:endParaRPr lang="en-US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73" y="1602659"/>
            <a:ext cx="7567459" cy="50144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36334" y="1973639"/>
            <a:ext cx="40803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passes_attempted ↔ passes_completed</a:t>
            </a:r>
            <a:endParaRPr lang="en-US" dirty="0" smtClean="0"/>
          </a:p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Effort consistency metric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160774" y="2874195"/>
            <a:ext cx="39181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↔ power_play_goals</a:t>
            </a:r>
            <a:endParaRPr lang="en-US" dirty="0"/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Top scorers dominate power plays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160774" y="3872162"/>
            <a:ext cx="39869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years_played ↔ </a:t>
            </a:r>
            <a:r>
              <a:rPr lang="en-US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years_pro</a:t>
            </a:r>
            <a:endParaRPr lang="en-US" dirty="0"/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Expected career progression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160774" y="4904037"/>
            <a:ext cx="39869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shot_speed ↔ goals</a:t>
            </a:r>
            <a:endParaRPr lang="en-US" dirty="0"/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 ·  Raw speed ≠ scoring ability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4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934064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Data Cleaning: Missing Values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225" y="1101213"/>
            <a:ext cx="11695471" cy="5653548"/>
          </a:xfrm>
        </p:spPr>
        <p:txBody>
          <a:bodyPr>
            <a:normAutofit/>
          </a:bodyPr>
          <a:lstStyle/>
          <a:p>
            <a:pPr algn="l"/>
            <a:r>
              <a:rPr lang="en-US" sz="28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Missing Data Analysis:</a:t>
            </a:r>
          </a:p>
          <a:p>
            <a:pPr algn="l"/>
            <a:endParaRPr lang="en-US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l"/>
            <a:endParaRPr lang="en-US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5" y="1665032"/>
            <a:ext cx="6985820" cy="4588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4103" y="6459171"/>
            <a:ext cx="6871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Strategy</a:t>
            </a:r>
            <a:r>
              <a:rPr lang="en-US" dirty="0"/>
              <a:t>: Identify → Understand → Flag. No rows dropped at this stage.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44697" y="1750142"/>
            <a:ext cx="44540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moms_notes has its own missing value profile — checked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separately.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Some columns have structural missingness (e.g. not all players have medical records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Left joins intentionally keep NaNs rather than dropping rows</a:t>
            </a:r>
          </a:p>
        </p:txBody>
      </p:sp>
    </p:spTree>
    <p:extLst>
      <p:ext uri="{BB962C8B-B14F-4D97-AF65-F5344CB8AC3E}">
        <p14:creationId xmlns:p14="http://schemas.microsoft.com/office/powerpoint/2010/main" val="3915028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17987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Cleaning: Outliers &amp; Unit Inconsistencies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303" y="1061883"/>
            <a:ext cx="11582399" cy="5545393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Fixing Dirty Values — Units, Outliers &amp; </a:t>
            </a:r>
            <a:r>
              <a:rPr lang="en-US" sz="28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Encoding:</a:t>
            </a:r>
          </a:p>
          <a:p>
            <a:pPr algn="l"/>
            <a:endParaRPr lang="en-US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l"/>
            <a:endParaRPr lang="en-US" sz="28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82" y="1699289"/>
            <a:ext cx="11162764" cy="43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8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143" y="154141"/>
            <a:ext cx="11779044" cy="1470025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Key Insights &amp; Discussion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4465" y="1504335"/>
            <a:ext cx="11513574" cy="4866967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Most important findings from the unified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760" y="2352056"/>
            <a:ext cx="510785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Player Profiles</a:t>
            </a:r>
          </a:p>
          <a:p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Positions, dominant hand, experience levels </a:t>
            </a:r>
            <a:r>
              <a:rPr lang="fr-FR" sz="1600" dirty="0" smtClean="0"/>
              <a:t>quantified.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Skewed distributions — more veterans than rookies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33767" y="2244256"/>
            <a:ext cx="590427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Performance Signals</a:t>
            </a:r>
          </a:p>
          <a:p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Pass </a:t>
            </a:r>
            <a:r>
              <a:rPr lang="en-US" sz="1600" dirty="0"/>
              <a:t>completion rate is stable &amp; measurable → reliable </a:t>
            </a:r>
            <a:r>
              <a:rPr lang="en-US" sz="1600" dirty="0" smtClean="0"/>
              <a:t>feature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Power play goals tightly correlate with total </a:t>
            </a:r>
            <a:r>
              <a:rPr lang="en-US" sz="1600" dirty="0" smtClean="0"/>
              <a:t>goals.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Performance Stats are strongest predictors.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585018" y="4240859"/>
            <a:ext cx="547165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Salary vs Output</a:t>
            </a:r>
          </a:p>
          <a:p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Salary correlates </a:t>
            </a:r>
            <a:r>
              <a:rPr lang="en-US" sz="1600" dirty="0" smtClean="0"/>
              <a:t>mo</a:t>
            </a:r>
            <a:r>
              <a:rPr lang="en-US" sz="1600" dirty="0"/>
              <a:t>derately with performance </a:t>
            </a:r>
            <a:r>
              <a:rPr lang="en-US" sz="1600" dirty="0" smtClean="0"/>
              <a:t>metrics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Some </a:t>
            </a:r>
            <a:r>
              <a:rPr lang="en-US" sz="1600" dirty="0"/>
              <a:t>outliers suggest over/underpaid players worth </a:t>
            </a:r>
            <a:r>
              <a:rPr lang="en-US" sz="1600" dirty="0" smtClean="0"/>
              <a:t>investigating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5933766" y="4240859"/>
            <a:ext cx="56191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Data Quality</a:t>
            </a:r>
          </a:p>
          <a:p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moms_notes: highest missingness → supplementary </a:t>
            </a:r>
            <a:r>
              <a:rPr lang="en-US" sz="1600" dirty="0" smtClean="0"/>
              <a:t>only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Medical records missing for subset of players</a:t>
            </a:r>
          </a:p>
        </p:txBody>
      </p:sp>
    </p:spTree>
    <p:extLst>
      <p:ext uri="{BB962C8B-B14F-4D97-AF65-F5344CB8AC3E}">
        <p14:creationId xmlns:p14="http://schemas.microsoft.com/office/powerpoint/2010/main" val="1893445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472</Words>
  <Application>Microsoft Office PowerPoint</Application>
  <PresentationFormat>Widescreen</PresentationFormat>
  <Paragraphs>109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Preprocessing: Format Standardization</vt:lpstr>
      <vt:lpstr>Data Relationships: Joining Sources Into One Master Dataframe</vt:lpstr>
      <vt:lpstr>Data Relationships: Correlation Analysis</vt:lpstr>
      <vt:lpstr>Data Cleaning: Missing Values</vt:lpstr>
      <vt:lpstr>Cleaning: Outliers &amp; Unit Inconsistencies</vt:lpstr>
      <vt:lpstr>Key Insights &amp;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5A_Traders</cp:lastModifiedBy>
  <cp:revision>28</cp:revision>
  <dcterms:created xsi:type="dcterms:W3CDTF">2013-01-27T09:14:16Z</dcterms:created>
  <dcterms:modified xsi:type="dcterms:W3CDTF">2026-05-03T14:44:11Z</dcterms:modified>
  <cp:category/>
</cp:coreProperties>
</file>